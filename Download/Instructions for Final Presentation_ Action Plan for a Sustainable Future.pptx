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T Sans Narrow"/>
      <p:regular r:id="rId15"/>
      <p:bold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c3G/UvrtqOBUXy0tCb0Pl/ATc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c6f4d71b2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2c6f4d71b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6f4d71b2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2c6f4d71b2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239cf161633_0_750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g239cf161633_0_750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g239cf161633_0_750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g239cf161633_0_750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g239cf161633_0_750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g239cf161633_0_750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g239cf161633_0_750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g239cf161633_0_750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g239cf161633_0_750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g239cf161633_0_750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g239cf161633_0_7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39cf161633_0_76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239cf161633_0_76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g239cf161633_0_76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g239cf161633_0_7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39cf161633_0_762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239cf161633_0_762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g239cf161633_0_7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39cf161633_0_77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g239cf161633_0_771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g239cf161633_0_771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g239cf161633_0_7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39cf161633_0_77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g239cf161633_0_7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39cf161633_0_77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g239cf161633_0_77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g239cf161633_0_7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39cf161633_0_783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g239cf161633_0_7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39cf161633_0_78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g239cf161633_0_78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g239cf161633_0_786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g239cf161633_0_786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g239cf161633_0_78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239cf161633_0_7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39cf161633_0_793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g239cf161633_0_7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39cf161633_0_79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239cf161633_0_796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g239cf161633_0_796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g239cf161633_0_7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39cf161633_0_8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39cf161633_0_74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g239cf161633_0_74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g239cf161633_0_7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dgs.un.org/goals/goal6#targets_and_indicator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451675" y="1224650"/>
            <a:ext cx="86325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921"/>
              <a:buNone/>
            </a:pPr>
            <a:r>
              <a:t/>
            </a:r>
            <a:endParaRPr sz="4100">
              <a:solidFill>
                <a:srgbClr val="991C67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921"/>
              <a:buNone/>
            </a:pPr>
            <a:r>
              <a:t/>
            </a:r>
            <a:endParaRPr sz="4100">
              <a:solidFill>
                <a:srgbClr val="991C67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921"/>
              <a:buNone/>
            </a:pPr>
            <a:r>
              <a:t/>
            </a:r>
            <a:endParaRPr sz="4100">
              <a:solidFill>
                <a:srgbClr val="991C67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921"/>
              <a:buNone/>
            </a:pPr>
            <a:r>
              <a:rPr b="1" lang="en" sz="4100">
                <a:solidFill>
                  <a:srgbClr val="991C67"/>
                </a:solidFill>
              </a:rPr>
              <a:t>ENG101 </a:t>
            </a:r>
            <a:r>
              <a:rPr lang="en" sz="4100">
                <a:solidFill>
                  <a:srgbClr val="991C67"/>
                </a:solidFill>
              </a:rPr>
              <a:t>Final</a:t>
            </a:r>
            <a:r>
              <a:rPr b="1" lang="en" sz="4100">
                <a:solidFill>
                  <a:srgbClr val="991C67"/>
                </a:solidFill>
              </a:rPr>
              <a:t> Presentation</a:t>
            </a:r>
            <a:endParaRPr b="1" sz="4100">
              <a:solidFill>
                <a:srgbClr val="991C67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921"/>
              <a:buNone/>
            </a:pPr>
            <a:r>
              <a:rPr b="1" lang="en" sz="4100">
                <a:solidFill>
                  <a:srgbClr val="991C67"/>
                </a:solidFill>
              </a:rPr>
              <a:t>Action Plan for a Sustainable </a:t>
            </a:r>
            <a:r>
              <a:rPr lang="en" sz="4100">
                <a:solidFill>
                  <a:srgbClr val="991C67"/>
                </a:solidFill>
              </a:rPr>
              <a:t>Future</a:t>
            </a:r>
            <a:endParaRPr b="1" sz="4100">
              <a:solidFill>
                <a:srgbClr val="991C6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ctrTitle"/>
          </p:nvPr>
        </p:nvSpPr>
        <p:spPr>
          <a:xfrm>
            <a:off x="245650" y="0"/>
            <a:ext cx="9262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3349"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1</a:t>
            </a:r>
            <a:endParaRPr b="1" sz="3880"/>
          </a:p>
        </p:txBody>
      </p:sp>
      <p:sp>
        <p:nvSpPr>
          <p:cNvPr id="72" name="Google Shape;72;p2"/>
          <p:cNvSpPr txBox="1"/>
          <p:nvPr>
            <p:ph idx="1" type="subTitle"/>
          </p:nvPr>
        </p:nvSpPr>
        <p:spPr>
          <a:xfrm>
            <a:off x="628500" y="1138900"/>
            <a:ext cx="7887000" cy="26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16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PT Sans Narrow"/>
              <a:buChar char="●"/>
            </a:pPr>
            <a:r>
              <a:rPr b="1" i="1" lang="en">
                <a:solidFill>
                  <a:srgbClr val="FF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Select an SDG</a:t>
            </a:r>
            <a:endParaRPr b="1" i="1">
              <a:solidFill>
                <a:srgbClr val="FF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1" lang="en">
                <a:solidFill>
                  <a:srgbClr val="FF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Explain-</a:t>
            </a:r>
            <a:endParaRPr b="1" i="1">
              <a:solidFill>
                <a:srgbClr val="FF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T Sans Narrow"/>
              <a:buChar char="●"/>
            </a:pPr>
            <a:r>
              <a:rPr b="1" i="1" lang="en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why it is important to achieve</a:t>
            </a:r>
            <a:endParaRPr b="1" i="1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T Sans Narrow"/>
              <a:buChar char="●"/>
            </a:pPr>
            <a:r>
              <a:rPr b="1" i="1" lang="en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Why did you select this SDG</a:t>
            </a:r>
            <a:endParaRPr b="1" i="1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T Sans Narrow"/>
              <a:buChar char="●"/>
            </a:pPr>
            <a:r>
              <a:rPr b="1" i="1" lang="en" sz="2200">
                <a:solidFill>
                  <a:srgbClr val="000000"/>
                </a:solidFill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Find a </a:t>
            </a:r>
            <a:r>
              <a:rPr b="1" i="1" lang="en" sz="2200" u="sng">
                <a:solidFill>
                  <a:srgbClr val="000000"/>
                </a:solidFill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suitable title</a:t>
            </a:r>
            <a:r>
              <a:rPr b="1" i="1" lang="en" sz="2200">
                <a:solidFill>
                  <a:srgbClr val="000000"/>
                </a:solidFill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 for your project along with a catchy slogan</a:t>
            </a:r>
            <a:endParaRPr b="1" i="1" sz="2200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6f4d71b2b_0_5"/>
          <p:cNvSpPr txBox="1"/>
          <p:nvPr>
            <p:ph type="ctrTitle"/>
          </p:nvPr>
        </p:nvSpPr>
        <p:spPr>
          <a:xfrm>
            <a:off x="245650" y="0"/>
            <a:ext cx="9262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3349"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2</a:t>
            </a:r>
            <a:endParaRPr b="1" sz="3880"/>
          </a:p>
        </p:txBody>
      </p:sp>
      <p:sp>
        <p:nvSpPr>
          <p:cNvPr id="78" name="Google Shape;78;g2c6f4d71b2b_0_5"/>
          <p:cNvSpPr txBox="1"/>
          <p:nvPr>
            <p:ph idx="1" type="subTitle"/>
          </p:nvPr>
        </p:nvSpPr>
        <p:spPr>
          <a:xfrm>
            <a:off x="628500" y="1138900"/>
            <a:ext cx="7887000" cy="26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1">
              <a:solidFill>
                <a:srgbClr val="FF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810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T Sans Narrow"/>
              <a:buChar char="●"/>
            </a:pPr>
            <a:r>
              <a:rPr b="1" i="1" lang="en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Identify and explain a problem related to the SDG from a newspaper article (local or global)</a:t>
            </a:r>
            <a:endParaRPr b="1" i="1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810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T Sans Narrow"/>
              <a:buChar char="●"/>
            </a:pPr>
            <a:r>
              <a:rPr b="1" i="1" lang="en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Mention action plans executed nationally or internationally to address the problem from the selected newspaper article</a:t>
            </a:r>
            <a:endParaRPr i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ctrTitle"/>
          </p:nvPr>
        </p:nvSpPr>
        <p:spPr>
          <a:xfrm>
            <a:off x="245650" y="107475"/>
            <a:ext cx="9262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3328"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3</a:t>
            </a:r>
            <a:endParaRPr b="1" sz="3880"/>
          </a:p>
        </p:txBody>
      </p:sp>
      <p:sp>
        <p:nvSpPr>
          <p:cNvPr id="84" name="Google Shape;84;p3"/>
          <p:cNvSpPr txBox="1"/>
          <p:nvPr>
            <p:ph idx="1" type="subTitle"/>
          </p:nvPr>
        </p:nvSpPr>
        <p:spPr>
          <a:xfrm>
            <a:off x="793950" y="1267950"/>
            <a:ext cx="7556100" cy="25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1" sz="2291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1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2"/>
              <a:buFont typeface="PT Sans Narrow"/>
              <a:buChar char="●"/>
            </a:pPr>
            <a:r>
              <a:rPr b="1" i="1" lang="en" sz="229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Think of </a:t>
            </a:r>
            <a:r>
              <a:rPr b="1" i="1" lang="en" sz="2291" u="sng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two </a:t>
            </a:r>
            <a:r>
              <a:rPr b="1" i="1" lang="en" sz="229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possible action plans from your end to resolve or minimize the problem related to the selected SDG	</a:t>
            </a:r>
            <a:endParaRPr b="1" i="1" sz="229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1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2"/>
              <a:buFont typeface="PT Sans Narrow"/>
              <a:buChar char="●"/>
            </a:pPr>
            <a:r>
              <a:rPr b="1" i="1" lang="en" sz="229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Connect the action plans with specific targets and indicators</a:t>
            </a:r>
            <a:endParaRPr b="1" i="1" sz="2291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3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https://sdgs.un.org/goals/goal6#targets_and_indicators</a:t>
            </a:r>
            <a:endParaRPr b="1" i="1" sz="2291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i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c6f4d71b2b_0_10"/>
          <p:cNvSpPr txBox="1"/>
          <p:nvPr>
            <p:ph type="ctrTitle"/>
          </p:nvPr>
        </p:nvSpPr>
        <p:spPr>
          <a:xfrm>
            <a:off x="245650" y="107475"/>
            <a:ext cx="9262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3328"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4</a:t>
            </a:r>
            <a:endParaRPr b="1" sz="3880"/>
          </a:p>
        </p:txBody>
      </p:sp>
      <p:sp>
        <p:nvSpPr>
          <p:cNvPr id="90" name="Google Shape;90;g2c6f4d71b2b_0_10"/>
          <p:cNvSpPr txBox="1"/>
          <p:nvPr>
            <p:ph idx="1" type="subTitle"/>
          </p:nvPr>
        </p:nvSpPr>
        <p:spPr>
          <a:xfrm>
            <a:off x="793950" y="1267950"/>
            <a:ext cx="7556100" cy="25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1" sz="2291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PT Sans Narrow"/>
              <a:buChar char="●"/>
            </a:pPr>
            <a:r>
              <a:rPr b="1" i="1" lang="en" sz="2500">
                <a:latin typeface="PT Sans Narrow"/>
                <a:ea typeface="PT Sans Narrow"/>
                <a:cs typeface="PT Sans Narrow"/>
                <a:sym typeface="PT Sans Narrow"/>
              </a:rPr>
              <a:t>I</a:t>
            </a:r>
            <a:r>
              <a:rPr b="1" i="1" lang="en" sz="25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dentify 2 resources needed to carry out the 2 action plans</a:t>
            </a:r>
            <a:endParaRPr b="1" i="1" sz="25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PT Sans Narrow"/>
              <a:buChar char="●"/>
            </a:pPr>
            <a:r>
              <a:rPr b="1" i="1" lang="en" sz="25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Identify 2 challenges you faced in carrying out the 2 tasks and solutions to overcome those challenges      </a:t>
            </a:r>
            <a:r>
              <a:rPr b="1" i="1" lang="en" sz="2500"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endParaRPr b="1" i="1" sz="2291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ctrTitle"/>
          </p:nvPr>
        </p:nvSpPr>
        <p:spPr>
          <a:xfrm>
            <a:off x="245650" y="107475"/>
            <a:ext cx="9262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80"/>
              <a:buFont typeface="Arial"/>
              <a:buNone/>
            </a:pPr>
            <a:r>
              <a:rPr lang="en" sz="4544"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5</a:t>
            </a:r>
            <a:endParaRPr b="1" sz="3480"/>
          </a:p>
        </p:txBody>
      </p:sp>
      <p:sp>
        <p:nvSpPr>
          <p:cNvPr id="96" name="Google Shape;96;p6"/>
          <p:cNvSpPr txBox="1"/>
          <p:nvPr>
            <p:ph idx="1" type="subTitle"/>
          </p:nvPr>
        </p:nvSpPr>
        <p:spPr>
          <a:xfrm>
            <a:off x="311700" y="1090125"/>
            <a:ext cx="8520600" cy="3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Char char="●"/>
            </a:pPr>
            <a:r>
              <a:rPr b="1" i="1" lang="en" sz="3400">
                <a:solidFill>
                  <a:srgbClr val="000000"/>
                </a:solidFill>
                <a:highlight>
                  <a:srgbClr val="FFFFFF"/>
                </a:highlight>
              </a:rPr>
              <a:t>Explain the long-term positive social impacts of your action in the community</a:t>
            </a:r>
            <a:endParaRPr sz="3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</a:pPr>
            <a:r>
              <a:t/>
            </a:r>
            <a:endParaRPr sz="11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</a:pPr>
            <a:r>
              <a:t/>
            </a:r>
            <a:endParaRPr b="1" i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</a:pPr>
            <a:r>
              <a:t/>
            </a:r>
            <a:endParaRPr b="1" i="1"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>
            <p:ph type="ctrTitle"/>
          </p:nvPr>
        </p:nvSpPr>
        <p:spPr>
          <a:xfrm>
            <a:off x="245650" y="107475"/>
            <a:ext cx="9262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80">
                <a:solidFill>
                  <a:srgbClr val="991C67"/>
                </a:solidFill>
              </a:rPr>
              <a:t>Presentation Guidelines</a:t>
            </a:r>
            <a:endParaRPr b="1" sz="3780">
              <a:solidFill>
                <a:srgbClr val="991C67"/>
              </a:solidFill>
            </a:endParaRPr>
          </a:p>
        </p:txBody>
      </p:sp>
      <p:sp>
        <p:nvSpPr>
          <p:cNvPr id="102" name="Google Shape;102;p7"/>
          <p:cNvSpPr txBox="1"/>
          <p:nvPr>
            <p:ph idx="1" type="subTitle"/>
          </p:nvPr>
        </p:nvSpPr>
        <p:spPr>
          <a:xfrm>
            <a:off x="311700" y="934950"/>
            <a:ext cx="8677200" cy="4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36537"/>
              <a:buNone/>
            </a:pPr>
            <a:r>
              <a:t/>
            </a:r>
            <a:endParaRPr b="1" sz="3328">
              <a:highlight>
                <a:srgbClr val="FFFFFF"/>
              </a:highlight>
            </a:endParaRPr>
          </a:p>
          <a:p>
            <a:pPr indent="-37738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T Sans Narrow"/>
              <a:buAutoNum type="arabicPeriod"/>
            </a:pP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Total marks: 10 marks</a:t>
            </a:r>
            <a:endParaRPr sz="7200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7386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T Sans Narrow"/>
              <a:buAutoNum type="arabicPeriod"/>
            </a:pP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Design a</a:t>
            </a: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 powerpoint slides </a:t>
            </a: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including pictures and references</a:t>
            </a:r>
            <a:endParaRPr sz="7200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738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T Sans Narrow"/>
              <a:buAutoNum type="arabicPeriod"/>
            </a:pP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Time for each presenter: 3-4 minutes </a:t>
            </a:r>
            <a:endParaRPr sz="7200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738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T Sans Narrow"/>
              <a:buAutoNum type="arabicPeriod"/>
            </a:pP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Time for each group: 15-20 minutes</a:t>
            </a:r>
            <a:endParaRPr sz="7200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7386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T Sans Narrow"/>
              <a:buAutoNum type="arabicPeriod"/>
            </a:pP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Presenters should be prepared for a </a:t>
            </a:r>
            <a:r>
              <a:rPr b="1" lang="en" sz="7200" u="sng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question-answer session</a:t>
            </a:r>
            <a:r>
              <a:rPr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.</a:t>
            </a:r>
            <a:endParaRPr sz="7200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7386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T Sans Narrow"/>
              <a:buAutoNum type="arabicPeriod"/>
            </a:pP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Find a </a:t>
            </a:r>
            <a:r>
              <a:rPr b="1" lang="en" sz="7200" u="sng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suitable title</a:t>
            </a: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 for your project along with a catchy slogan</a:t>
            </a:r>
            <a:endParaRPr b="1" sz="7200">
              <a:solidFill>
                <a:srgbClr val="000000"/>
              </a:solidFill>
              <a:highlight>
                <a:srgbClr val="FFFFFF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7386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T Sans Narrow"/>
              <a:buAutoNum type="arabicPeriod"/>
            </a:pP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Include the </a:t>
            </a:r>
            <a:r>
              <a:rPr b="1" lang="en" sz="7200" u="sng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before and after pictures/short videos while executing the actions alongside with your group members</a:t>
            </a:r>
            <a:r>
              <a:rPr b="1" lang="en" sz="7200">
                <a:solidFill>
                  <a:srgbClr val="000000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.</a:t>
            </a:r>
            <a:endParaRPr i="1" sz="6099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3445"/>
              <a:buNone/>
            </a:pPr>
            <a:r>
              <a:t/>
            </a:r>
            <a:endParaRPr sz="7299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3445"/>
              <a:buNone/>
            </a:pPr>
            <a:r>
              <a:t/>
            </a:r>
            <a:endParaRPr b="1" i="1" sz="7299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40"/>
              <a:buNone/>
            </a:pPr>
            <a:r>
              <a:t/>
            </a:r>
            <a:endParaRPr b="1" i="1"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40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134300"/>
            <a:ext cx="8520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b="1" lang="en">
                <a:solidFill>
                  <a:srgbClr val="991C67"/>
                </a:solidFill>
              </a:rPr>
              <a:t>Top tips for a lively presentation:</a:t>
            </a:r>
            <a:endParaRPr b="1">
              <a:solidFill>
                <a:srgbClr val="991C67"/>
              </a:solidFill>
            </a:endParaRPr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147725" y="738625"/>
            <a:ext cx="8890500" cy="4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0000"/>
              <a:buNone/>
            </a:pPr>
            <a:r>
              <a:t/>
            </a:r>
            <a:endParaRPr b="1" sz="2500">
              <a:solidFill>
                <a:srgbClr val="0000FF"/>
              </a:solidFill>
            </a:endParaRPr>
          </a:p>
          <a:p>
            <a:pPr indent="-3447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4573">
                <a:solidFill>
                  <a:srgbClr val="000000"/>
                </a:solidFill>
              </a:rPr>
              <a:t>Talk to your teacher for further queries. Receive feedback from teacher on your draft Action Plan. </a:t>
            </a:r>
            <a:endParaRPr b="1" i="1" sz="1188">
              <a:solidFill>
                <a:srgbClr val="000000"/>
              </a:solidFill>
            </a:endParaRPr>
          </a:p>
          <a:p>
            <a:pPr indent="-3447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4573">
                <a:solidFill>
                  <a:srgbClr val="000000"/>
                </a:solidFill>
              </a:rPr>
              <a:t>Every presenter must deliver a lively presentation making </a:t>
            </a:r>
            <a:r>
              <a:rPr b="1" i="1" lang="en" sz="4573" u="sng">
                <a:solidFill>
                  <a:srgbClr val="000000"/>
                </a:solidFill>
              </a:rPr>
              <a:t>effective use of  voice and body</a:t>
            </a:r>
            <a:r>
              <a:rPr b="1" i="1" lang="en" sz="4573">
                <a:solidFill>
                  <a:srgbClr val="000000"/>
                </a:solidFill>
              </a:rPr>
              <a:t>. </a:t>
            </a:r>
            <a:endParaRPr b="1" i="1" sz="4573">
              <a:solidFill>
                <a:srgbClr val="000000"/>
              </a:solidFill>
            </a:endParaRPr>
          </a:p>
          <a:p>
            <a:pPr indent="-3447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4573">
                <a:solidFill>
                  <a:srgbClr val="000000"/>
                </a:solidFill>
              </a:rPr>
              <a:t>Make </a:t>
            </a:r>
            <a:r>
              <a:rPr b="1" i="1" lang="en" sz="4573" u="sng">
                <a:solidFill>
                  <a:srgbClr val="000000"/>
                </a:solidFill>
              </a:rPr>
              <a:t>eye contact </a:t>
            </a:r>
            <a:r>
              <a:rPr b="1" i="1" lang="en" sz="4573">
                <a:solidFill>
                  <a:srgbClr val="000000"/>
                </a:solidFill>
              </a:rPr>
              <a:t>and use your own language throughout the presentation. </a:t>
            </a:r>
            <a:r>
              <a:rPr b="1" i="1" lang="en" sz="4573" u="sng">
                <a:solidFill>
                  <a:srgbClr val="000000"/>
                </a:solidFill>
              </a:rPr>
              <a:t>DO NOT read out from notes or slides</a:t>
            </a:r>
            <a:r>
              <a:rPr b="1" i="1" lang="en" sz="4573">
                <a:solidFill>
                  <a:srgbClr val="000000"/>
                </a:solidFill>
              </a:rPr>
              <a:t> or deliver a memorised speech.</a:t>
            </a:r>
            <a:endParaRPr b="1" i="1" sz="4573">
              <a:solidFill>
                <a:srgbClr val="000000"/>
              </a:solidFill>
            </a:endParaRPr>
          </a:p>
          <a:p>
            <a:pPr indent="-3447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4573">
                <a:solidFill>
                  <a:srgbClr val="000000"/>
                </a:solidFill>
              </a:rPr>
              <a:t>Wear an </a:t>
            </a:r>
            <a:r>
              <a:rPr b="1" i="1" lang="en" sz="4573" u="sng">
                <a:solidFill>
                  <a:srgbClr val="000000"/>
                </a:solidFill>
              </a:rPr>
              <a:t>enthusiastic facial expression</a:t>
            </a:r>
            <a:r>
              <a:rPr b="1" i="1" lang="en" sz="4573">
                <a:solidFill>
                  <a:srgbClr val="000000"/>
                </a:solidFill>
              </a:rPr>
              <a:t>. Try to conceal your nervousness by wearing a smile on your face. </a:t>
            </a:r>
            <a:endParaRPr b="1" i="1" sz="4573">
              <a:solidFill>
                <a:srgbClr val="000000"/>
              </a:solidFill>
            </a:endParaRPr>
          </a:p>
          <a:p>
            <a:pPr indent="-3447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4573">
                <a:solidFill>
                  <a:srgbClr val="000000"/>
                </a:solidFill>
              </a:rPr>
              <a:t>Be two times slower and 3 times</a:t>
            </a:r>
            <a:r>
              <a:rPr b="1" i="1" lang="en" sz="4573" u="sng">
                <a:solidFill>
                  <a:srgbClr val="000000"/>
                </a:solidFill>
              </a:rPr>
              <a:t> louder</a:t>
            </a:r>
            <a:r>
              <a:rPr b="1" i="1" lang="en" sz="4573">
                <a:solidFill>
                  <a:srgbClr val="000000"/>
                </a:solidFill>
              </a:rPr>
              <a:t> than your conversational voice.</a:t>
            </a:r>
            <a:endParaRPr b="1" i="1" sz="4573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 b="1" i="1" sz="2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250000"/>
              <a:buNone/>
            </a:pPr>
            <a:r>
              <a:t/>
            </a:r>
            <a:endParaRPr b="1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134300"/>
            <a:ext cx="8520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b="1" lang="en">
                <a:solidFill>
                  <a:srgbClr val="991C67"/>
                </a:solidFill>
              </a:rPr>
              <a:t>Top tips for a lively presentation:</a:t>
            </a:r>
            <a:endParaRPr b="1">
              <a:solidFill>
                <a:srgbClr val="991C67"/>
              </a:solidFill>
            </a:endParaRPr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147725" y="738625"/>
            <a:ext cx="8890500" cy="4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454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2372">
                <a:solidFill>
                  <a:srgbClr val="000000"/>
                </a:solidFill>
              </a:rPr>
              <a:t>Use suitable </a:t>
            </a:r>
            <a:r>
              <a:rPr b="1" i="1" lang="en" sz="2372" u="sng">
                <a:solidFill>
                  <a:srgbClr val="000000"/>
                </a:solidFill>
              </a:rPr>
              <a:t>transitional signals</a:t>
            </a:r>
            <a:r>
              <a:rPr b="1" i="1" lang="en" sz="2372">
                <a:solidFill>
                  <a:srgbClr val="000000"/>
                </a:solidFill>
              </a:rPr>
              <a:t> such as firstly, in addition, finally, to sum up etc. to move from one idea to another. Use hand gestures if necessary. </a:t>
            </a:r>
            <a:endParaRPr b="1" i="1" sz="2372">
              <a:solidFill>
                <a:srgbClr val="000000"/>
              </a:solidFill>
            </a:endParaRPr>
          </a:p>
          <a:p>
            <a:pPr indent="-3454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2372">
                <a:solidFill>
                  <a:srgbClr val="000000"/>
                </a:solidFill>
              </a:rPr>
              <a:t>Maintain proper </a:t>
            </a:r>
            <a:r>
              <a:rPr b="1" i="1" lang="en" sz="2372" u="sng">
                <a:solidFill>
                  <a:srgbClr val="000000"/>
                </a:solidFill>
              </a:rPr>
              <a:t>posture and movement</a:t>
            </a:r>
            <a:r>
              <a:rPr b="1" i="1" lang="en" sz="2372">
                <a:solidFill>
                  <a:srgbClr val="000000"/>
                </a:solidFill>
              </a:rPr>
              <a:t>. Avoid moving unnecessarily.</a:t>
            </a:r>
            <a:endParaRPr b="1" i="1" sz="2372">
              <a:solidFill>
                <a:srgbClr val="000000"/>
              </a:solidFill>
            </a:endParaRPr>
          </a:p>
          <a:p>
            <a:pPr indent="-3454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2372">
                <a:solidFill>
                  <a:srgbClr val="000000"/>
                </a:solidFill>
              </a:rPr>
              <a:t>Use </a:t>
            </a:r>
            <a:r>
              <a:rPr b="1" i="1" lang="en" sz="2372" u="sng">
                <a:solidFill>
                  <a:srgbClr val="000000"/>
                </a:solidFill>
              </a:rPr>
              <a:t>culturally appropriate ideas, contextual examples, and timely evidence.</a:t>
            </a:r>
            <a:endParaRPr b="1" i="1" sz="2372" u="sng">
              <a:solidFill>
                <a:srgbClr val="000000"/>
              </a:solidFill>
            </a:endParaRPr>
          </a:p>
          <a:p>
            <a:pPr indent="-3454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en" sz="2372">
                <a:solidFill>
                  <a:srgbClr val="FF0000"/>
                </a:solidFill>
              </a:rPr>
              <a:t>Avoid</a:t>
            </a:r>
            <a:r>
              <a:rPr b="1" i="1" lang="en" sz="2372"/>
              <a:t> </a:t>
            </a:r>
            <a:r>
              <a:rPr b="1" i="1" lang="en" sz="2372">
                <a:solidFill>
                  <a:srgbClr val="000000"/>
                </a:solidFill>
              </a:rPr>
              <a:t>hate speech, bullying, show respect to everyone.</a:t>
            </a:r>
            <a:endParaRPr b="1" i="1" sz="2372">
              <a:solidFill>
                <a:srgbClr val="000000"/>
              </a:solidFill>
            </a:endParaRPr>
          </a:p>
          <a:p>
            <a:pPr indent="-3454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2372" u="sng">
                <a:solidFill>
                  <a:srgbClr val="000000"/>
                </a:solidFill>
              </a:rPr>
              <a:t>Keep track of time. </a:t>
            </a:r>
            <a:r>
              <a:rPr b="1" i="1" lang="en" sz="2372">
                <a:solidFill>
                  <a:srgbClr val="000000"/>
                </a:solidFill>
              </a:rPr>
              <a:t>Practice a timed rehearsal before the actual presentation day. </a:t>
            </a:r>
            <a:endParaRPr b="1" i="1" sz="2372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241"/>
              <a:buNone/>
            </a:pPr>
            <a:r>
              <a:t/>
            </a:r>
            <a:endParaRPr b="1" i="1" sz="19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b="1" i="1" lang="en" sz="2700">
                <a:solidFill>
                  <a:srgbClr val="0000FF"/>
                </a:solidFill>
              </a:rPr>
              <a:t>Enjoy Learning!</a:t>
            </a:r>
            <a:endParaRPr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